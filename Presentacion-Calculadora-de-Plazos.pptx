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9" d="100"/>
          <a:sy n="119" d="100"/>
        </p:scale>
        <p:origin x="21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9CC4AC"/>
                </a:solidFill>
                <a:latin typeface="Calibri"/>
              </a:rPr>
              <a:t>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Georgia"/>
              </a:rPr>
              <a:t>Calculadora de Plazos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9CC4AC"/>
                </a:solidFill>
                <a:latin typeface="Calibri"/>
              </a:rPr>
              <a:t>Cómputo de plazos procesales — sin errores.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D7E3DB"/>
                </a:solidFill>
                <a:latin typeface="Calibri"/>
              </a:rPr>
              <a:t>Materia fiscal · administrativa · amparo  |  ámbito federal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D7E3DB"/>
                </a:solidFill>
                <a:latin typeface="Calibri"/>
              </a:rPr>
              <a:t>Hackathon  ·  Claude.ia para Abogados — Lawgic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532120"/>
            <a:ext cx="3657600" cy="566928"/>
          </a:xfrm>
          <a:prstGeom prst="roundRect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E3A2B"/>
                </a:solidFill>
                <a:latin typeface="Calibri"/>
              </a:rPr>
              <a:t>calculadora-plazos.netlify.app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49A3F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2F6B4F"/>
                </a:solidFill>
                <a:latin typeface="Georgia"/>
              </a:rPr>
              <a:t>Un día mal contado puede costar el caso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40280"/>
            <a:ext cx="348477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606040"/>
            <a:ext cx="658368" cy="65836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3474720"/>
            <a:ext cx="289956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F6B4F"/>
                </a:solidFill>
                <a:latin typeface="Georgia"/>
              </a:rPr>
              <a:t>Irreversible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4206240"/>
            <a:ext cx="289956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23302A"/>
                </a:solidFill>
                <a:latin typeface="Calibri"/>
              </a:rPr>
              <a:t>Errar el plazo precluye el derecho: indefensión y responsabilidad profesional. No hay vuelta atrás.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2240280"/>
            <a:ext cx="348477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73498" y="2606040"/>
            <a:ext cx="658368" cy="65836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6066" y="3474720"/>
            <a:ext cx="289956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F6B4F"/>
                </a:solidFill>
                <a:latin typeface="Georgia"/>
              </a:rPr>
              <a:t>Cada ley, su regla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4206240"/>
            <a:ext cx="289956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23302A"/>
                </a:solidFill>
                <a:latin typeface="Calibri"/>
              </a:rPr>
              <a:t>El surtimiento de efectos cambia según la ley: el mismo día, el día hábil siguiente o al tercer día hábil.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240280"/>
            <a:ext cx="348477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78316" y="2606040"/>
            <a:ext cx="658368" cy="65836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0884" y="3474720"/>
            <a:ext cx="289956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F6B4F"/>
                </a:solidFill>
                <a:latin typeface="Georgia"/>
              </a:rPr>
              <a:t>Cada órgano, su calendario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0884" y="4206240"/>
            <a:ext cx="289956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23302A"/>
                </a:solidFill>
                <a:latin typeface="Calibri"/>
              </a:rPr>
              <a:t>Los días inhábiles difieren: SAT ≠ TFJA ≠ dependencias. Y se publican cada año.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49A3F"/>
                </a:solidFill>
                <a:latin typeface="Calibr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6B4F"/>
                </a:solidFill>
                <a:latin typeface="Georgia"/>
              </a:rPr>
              <a:t>Una calculadora que sí entiende las reglas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B7770"/>
                </a:solidFill>
                <a:latin typeface="Calibri"/>
              </a:rPr>
              <a:t>Eliges trámite + fecha + materia  →  la fecha de vencimiento, con el desglose que la justifica.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2567863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2807208"/>
            <a:ext cx="201168" cy="201168"/>
          </a:xfrm>
          <a:prstGeom prst="ellipse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3154680"/>
            <a:ext cx="21106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F6B4F"/>
                </a:solidFill>
                <a:latin typeface="Georgia"/>
              </a:rPr>
              <a:t>Recurso de revocación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40480"/>
            <a:ext cx="2110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7770"/>
                </a:solidFill>
                <a:latin typeface="Calibri"/>
              </a:rPr>
              <a:t>CFF · 30 días hábiles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2514600"/>
            <a:ext cx="2567863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46855" y="2807208"/>
            <a:ext cx="201168" cy="201168"/>
          </a:xfrm>
          <a:prstGeom prst="ellipse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6855" y="3154680"/>
            <a:ext cx="21106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F6B4F"/>
                </a:solidFill>
                <a:latin typeface="Georgia"/>
              </a:rPr>
              <a:t>Recurso de revisión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6855" y="3840480"/>
            <a:ext cx="2110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7770"/>
                </a:solidFill>
                <a:latin typeface="Calibri"/>
              </a:rPr>
              <a:t>LFPA · 15 días hábiles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514600"/>
            <a:ext cx="2567863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9039" y="2807208"/>
            <a:ext cx="201168" cy="201168"/>
          </a:xfrm>
          <a:prstGeom prst="ellipse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9039" y="3154680"/>
            <a:ext cx="21106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F6B4F"/>
                </a:solidFill>
                <a:latin typeface="Georgia"/>
              </a:rPr>
              <a:t>Juicio de nulidad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3840480"/>
            <a:ext cx="2110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7770"/>
                </a:solidFill>
                <a:latin typeface="Calibri"/>
              </a:rPr>
              <a:t>LFPCA · 30 días hábiles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5191" y="2514600"/>
            <a:ext cx="2567863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31223" y="2807208"/>
            <a:ext cx="201168" cy="201168"/>
          </a:xfrm>
          <a:prstGeom prst="ellipse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31223" y="3154680"/>
            <a:ext cx="21106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F6B4F"/>
                </a:solidFill>
                <a:latin typeface="Georgia"/>
              </a:rPr>
              <a:t>Amparo directo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1223" y="3840480"/>
            <a:ext cx="2110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7770"/>
                </a:solidFill>
                <a:latin typeface="Calibri"/>
              </a:rPr>
              <a:t>L. Amparo · 15 días hábiles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764024"/>
            <a:ext cx="164592" cy="16459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4709160"/>
            <a:ext cx="33323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3302A"/>
                </a:solidFill>
                <a:latin typeface="Calibri"/>
              </a:rPr>
              <a:t>Mapa de inhábiles interactivo</a:t>
            </a:r>
          </a:p>
        </p:txBody>
      </p:sp>
      <p:sp>
        <p:nvSpPr>
          <p:cNvPr id="23" name="Oval 22"/>
          <p:cNvSpPr/>
          <p:nvPr/>
        </p:nvSpPr>
        <p:spPr>
          <a:xfrm>
            <a:off x="4246778" y="4764024"/>
            <a:ext cx="164592" cy="16459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1098" y="4709160"/>
            <a:ext cx="33323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3302A"/>
                </a:solidFill>
                <a:latin typeface="Calibri"/>
              </a:rPr>
              <a:t>Desglose verificable</a:t>
            </a:r>
          </a:p>
        </p:txBody>
      </p:sp>
      <p:sp>
        <p:nvSpPr>
          <p:cNvPr id="25" name="Oval 24"/>
          <p:cNvSpPr/>
          <p:nvPr/>
        </p:nvSpPr>
        <p:spPr>
          <a:xfrm>
            <a:off x="7944916" y="4764024"/>
            <a:ext cx="164592" cy="16459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9236" y="4709160"/>
            <a:ext cx="33323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3302A"/>
                </a:solidFill>
                <a:latin typeface="Calibri"/>
              </a:rPr>
              <a:t>No inventa fundamentos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3657600" cy="548640"/>
          </a:xfrm>
          <a:prstGeom prst="round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2F6B4F"/>
                </a:solidFill>
                <a:latin typeface="Calibri"/>
              </a:rPr>
              <a:t>calculadora-plazos.netlify.app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49A3F"/>
                </a:solidFill>
                <a:latin typeface="Calibri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6B4F"/>
                </a:solidFill>
                <a:latin typeface="Georgia"/>
              </a:rPr>
              <a:t>Del aviso al vencimiento, en segundos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874519" cy="1143000"/>
          </a:xfrm>
          <a:prstGeom prst="roundRect">
            <a:avLst/>
          </a:prstGeom>
          <a:solidFill>
            <a:srgbClr val="E8F3EC"/>
          </a:solidFill>
          <a:ln w="15875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350" b="1">
                <a:solidFill>
                  <a:srgbClr val="2F6B4F"/>
                </a:solidFill>
                <a:latin typeface="Calibri"/>
              </a:rPr>
              <a:t>Notificación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148840"/>
            <a:ext cx="365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C49A3F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2148840"/>
            <a:ext cx="1874519" cy="1143000"/>
          </a:xfrm>
          <a:prstGeom prst="roundRect">
            <a:avLst/>
          </a:prstGeom>
          <a:solidFill>
            <a:srgbClr val="E8F3EC"/>
          </a:solidFill>
          <a:ln w="15875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350" b="1">
                <a:solidFill>
                  <a:srgbClr val="2F6B4F"/>
                </a:solidFill>
                <a:latin typeface="Calibri"/>
              </a:rPr>
              <a:t>Surtimiento</a:t>
            </a:r>
          </a:p>
          <a:p>
            <a:pPr algn="ctr"/>
            <a:r>
              <a:rPr sz="1150" b="1">
                <a:solidFill>
                  <a:srgbClr val="2F6B4F"/>
                </a:solidFill>
                <a:latin typeface="Calibri"/>
              </a:rPr>
              <a:t>(3 velocidades)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48840"/>
            <a:ext cx="365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C49A3F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9" y="2148840"/>
            <a:ext cx="1874519" cy="1143000"/>
          </a:xfrm>
          <a:prstGeom prst="roundRect">
            <a:avLst/>
          </a:prstGeom>
          <a:solidFill>
            <a:srgbClr val="E8F3EC"/>
          </a:solidFill>
          <a:ln w="15875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350" b="1">
                <a:solidFill>
                  <a:srgbClr val="2F6B4F"/>
                </a:solidFill>
                <a:latin typeface="Calibri"/>
              </a:rPr>
              <a:t>Día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19" y="2148840"/>
            <a:ext cx="365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C49A3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79" y="2148840"/>
            <a:ext cx="1874519" cy="1143000"/>
          </a:xfrm>
          <a:prstGeom prst="roundRect">
            <a:avLst/>
          </a:prstGeom>
          <a:solidFill>
            <a:srgbClr val="E8F3EC"/>
          </a:solidFill>
          <a:ln w="15875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350" b="1">
                <a:solidFill>
                  <a:srgbClr val="2F6B4F"/>
                </a:solidFill>
                <a:latin typeface="Calibri"/>
              </a:rPr>
              <a:t>Contar</a:t>
            </a:r>
          </a:p>
          <a:p>
            <a:pPr algn="ctr"/>
            <a:r>
              <a:rPr sz="1150" b="1">
                <a:solidFill>
                  <a:srgbClr val="2F6B4F"/>
                </a:solidFill>
                <a:latin typeface="Calibri"/>
              </a:rPr>
              <a:t>días hábiles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148840"/>
            <a:ext cx="365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C49A3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59" y="2148840"/>
            <a:ext cx="1874519" cy="1143000"/>
          </a:xfrm>
          <a:prstGeom prst="round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Vencimiento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11094415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146304" cy="2148840"/>
          </a:xfrm>
          <a:prstGeom prst="rect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C49A3F"/>
                </a:solidFill>
                <a:latin typeface="Calibri"/>
              </a:rPr>
              <a:t>EJEMPLO (datos ilustrativos)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53128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23302A"/>
                </a:solidFill>
                <a:latin typeface="Calibri"/>
              </a:rPr>
              <a:t>Juicio de nulidad  ·  acto fiscal  ·  notificado el 14 de mayo de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7375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F6B4F"/>
                </a:solidFill>
                <a:latin typeface="Georgia"/>
              </a:rPr>
              <a:t>Vence: viernes 26 de junio de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7770"/>
                </a:solidFill>
                <a:latin typeface="Calibri"/>
              </a:rPr>
              <a:t>Cómputo validado contra el calendario oficial del TFJA (Acuerdo SS/2/2026).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49A3F"/>
                </a:solidFill>
                <a:latin typeface="Calibri"/>
              </a:rPr>
              <a:t>CÓMO SE CONSTRUYÓ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Construida con Claude — en una mañana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578608"/>
            <a:ext cx="182880" cy="182880"/>
          </a:xfrm>
          <a:prstGeom prst="ellipse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D7E3DB"/>
                </a:solidFill>
                <a:latin typeface="Calibri"/>
              </a:rPr>
              <a:t>El abogado pone el criterio y verifica las normas; la IA pone el motor y la velocidad.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36975"/>
            <a:ext cx="182880" cy="182880"/>
          </a:xfrm>
          <a:prstGeom prst="ellipse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172968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D7E3DB"/>
                </a:solidFill>
                <a:latin typeface="Calibri"/>
              </a:rPr>
              <a:t>Reglas cotejadas con el texto vigente (Cámara de Diputados) y calendarios oficiales.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895344"/>
            <a:ext cx="182880" cy="182880"/>
          </a:xfrm>
          <a:prstGeom prst="ellipse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831335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D7E3DB"/>
                </a:solidFill>
                <a:latin typeface="Calibri"/>
              </a:rPr>
              <a:t>Roadmap: amparo indirecto · ámbito estatal y municipal · más calendarios.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105156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1" dirty="0">
                <a:solidFill>
                  <a:srgbClr val="9CC4AC"/>
                </a:solidFill>
                <a:latin typeface="Georgia"/>
              </a:rPr>
              <a:t>De </a:t>
            </a:r>
            <a:r>
              <a:rPr sz="2500" b="0" i="1" dirty="0" err="1">
                <a:solidFill>
                  <a:srgbClr val="9CC4AC"/>
                </a:solidFill>
                <a:latin typeface="Georgia"/>
              </a:rPr>
              <a:t>una</a:t>
            </a:r>
            <a:r>
              <a:rPr sz="2500" b="0" i="1" dirty="0">
                <a:solidFill>
                  <a:srgbClr val="9CC4AC"/>
                </a:solidFill>
                <a:latin typeface="Georgia"/>
              </a:rPr>
              <a:t> idea a </a:t>
            </a:r>
            <a:r>
              <a:rPr sz="2500" b="0" i="1" dirty="0" err="1">
                <a:solidFill>
                  <a:srgbClr val="9CC4AC"/>
                </a:solidFill>
                <a:latin typeface="Georgia"/>
              </a:rPr>
              <a:t>una</a:t>
            </a:r>
            <a:r>
              <a:rPr sz="2500" b="0" i="1" dirty="0">
                <a:solidFill>
                  <a:srgbClr val="9CC4AC"/>
                </a:solidFill>
                <a:latin typeface="Georgia"/>
              </a:rPr>
              <a:t> </a:t>
            </a:r>
            <a:r>
              <a:rPr sz="2500" b="0" i="1" dirty="0" err="1">
                <a:solidFill>
                  <a:srgbClr val="9CC4AC"/>
                </a:solidFill>
                <a:latin typeface="Georgia"/>
              </a:rPr>
              <a:t>herramienta</a:t>
            </a:r>
            <a:r>
              <a:rPr sz="2500" b="0" i="1" dirty="0">
                <a:solidFill>
                  <a:srgbClr val="9CC4AC"/>
                </a:solidFill>
                <a:latin typeface="Georgia"/>
              </a:rPr>
              <a:t> </a:t>
            </a:r>
            <a:r>
              <a:rPr sz="2500" b="0" i="1" dirty="0" err="1">
                <a:solidFill>
                  <a:srgbClr val="9CC4AC"/>
                </a:solidFill>
                <a:latin typeface="Georgia"/>
              </a:rPr>
              <a:t>publicada</a:t>
            </a:r>
            <a:r>
              <a:rPr sz="2500" b="0" i="1" dirty="0">
                <a:solidFill>
                  <a:srgbClr val="9CC4AC"/>
                </a:solidFill>
                <a:latin typeface="Georgia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3657600" cy="548640"/>
          </a:xfrm>
          <a:prstGeom prst="roundRect">
            <a:avLst/>
          </a:prstGeom>
          <a:solidFill>
            <a:srgbClr val="C4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E3A2B"/>
                </a:solidFill>
                <a:latin typeface="Calibri"/>
              </a:rPr>
              <a:t>calculadora-plazos.netlify.app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897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9CC4AC"/>
                </a:solidFill>
                <a:latin typeface="Calibri"/>
              </a:rPr>
              <a:t>🌿 Hecho con Vero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332</Words>
  <Application>Microsoft Macintosh PowerPoint</Application>
  <PresentationFormat>Panorámica</PresentationFormat>
  <Paragraphs>57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Calculadora de Plazos</dc:title>
  <dc:subject/>
  <dc:creator>Esteban Jose Echeverria Ortegon</dc:creator>
  <cp:keywords/>
  <dc:description>generated using python-pptx</dc:description>
  <cp:lastModifiedBy>Esteban José Echeverría Ortegón</cp:lastModifiedBy>
  <cp:revision>2</cp:revision>
  <dcterms:created xsi:type="dcterms:W3CDTF">2013-01-27T09:14:16Z</dcterms:created>
  <dcterms:modified xsi:type="dcterms:W3CDTF">2026-05-30T19:06:51Z</dcterms:modified>
  <cp:category/>
</cp:coreProperties>
</file>